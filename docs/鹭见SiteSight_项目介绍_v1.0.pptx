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64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D12C549-D14C-4123-B955-32A8967DB2E6}"/>
              </a:ext>
            </a:extLst>
          </p:cNvPr>
          <p:cNvSpPr>
            <a:spLocks noGrp="1"/>
          </p:cNvSpPr>
          <p:nvPr/>
        </p:nvSpPr>
        <p:spPr>
          <a:xfrm>
            <a:off x="6705600" y="571500"/>
            <a:ext cx="4914900" cy="5676900"/>
          </a:xfrm>
          <a:prstGeom prst="roundRect">
            <a:avLst>
              <a:gd name="adj" fmla="val 542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58050" y="1653332"/>
            <a:ext cx="3810000" cy="3475137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AF56CEC-5324-418B-9B2C-B83B6007DEA9}"/>
              </a:ext>
            </a:extLst>
          </p:cNvPr>
          <p:cNvSpPr>
            <a:spLocks noGrp="1"/>
          </p:cNvSpPr>
          <p:nvPr/>
        </p:nvSpPr>
        <p:spPr>
          <a:xfrm>
            <a:off x="571500" y="723900"/>
            <a:ext cx="533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rPr>
              <a:t>高校黑客松作品 · 2026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A5E36D-BD13-48B1-8F92-5445F058DFA3}"/>
              </a:ext>
            </a:extLst>
          </p:cNvPr>
          <p:cNvSpPr>
            <a:spLocks noGrp="1"/>
          </p:cNvSpPr>
          <p:nvPr/>
        </p:nvSpPr>
        <p:spPr>
          <a:xfrm>
            <a:off x="571500" y="1238250"/>
            <a:ext cx="5524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5400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鹭见 SiteSight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54CDAF8-F7B5-418C-9543-030038754B25}"/>
              </a:ext>
            </a:extLst>
          </p:cNvPr>
          <p:cNvSpPr>
            <a:spLocks noGrp="1"/>
          </p:cNvSpPr>
          <p:nvPr/>
        </p:nvSpPr>
        <p:spPr>
          <a:xfrm>
            <a:off x="571500" y="2781300"/>
            <a:ext cx="5334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02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无人机照片一键三维建模</a:t>
            </a:r>
          </a:p>
          <a:p>
            <a:pPr algn="l">
              <a:defRPr sz="202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AI 场地分析 · 记忆型报告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16F30F4-9D20-42BA-93FC-A4647E010D0D}"/>
              </a:ext>
            </a:extLst>
          </p:cNvPr>
          <p:cNvSpPr>
            <a:spLocks noGrp="1"/>
          </p:cNvSpPr>
          <p:nvPr/>
        </p:nvSpPr>
        <p:spPr>
          <a:xfrm>
            <a:off x="571500" y="4000500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rPr>
              <a:t>v1.0.0 正式版 · 完全免费开源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8887E8E-27B9-46D9-A3B9-2264441FEF3B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5334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把传统测绘数万元的投入，压缩到千元级设备 + 免费软件。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1C4E26A-9840-4A61-998B-CC0F280698BE}"/>
              </a:ext>
            </a:extLst>
          </p:cNvPr>
          <p:cNvSpPr>
            <a:spLocks noGrp="1"/>
          </p:cNvSpPr>
          <p:nvPr/>
        </p:nvSpPr>
        <p:spPr>
          <a:xfrm>
            <a:off x="11334750" y="63627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13382A9-CBA5-4298-AE0C-556D063DD9CC}"/>
              </a:ext>
            </a:extLst>
          </p:cNvPr>
          <p:cNvSpPr>
            <a:spLocks noGrp="1"/>
          </p:cNvSpPr>
          <p:nvPr/>
        </p:nvSpPr>
        <p:spPr>
          <a:xfrm>
            <a:off x="571500" y="6015446"/>
            <a:ext cx="4762500" cy="61395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050" b="0" i="0" dirty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队伍名称：我是山里灵活的狗  </a:t>
            </a:r>
            <a:r>
              <a:rPr lang="en-US" altLang="zh-CN" sz="1050" b="0" i="0" dirty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T0002</a:t>
            </a:r>
            <a:endParaRPr lang="en-US" sz="1050" b="0" i="0" dirty="0">
              <a:solidFill>
                <a:srgbClr val="8A97A5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050" dirty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团队成员：</a:t>
            </a:r>
            <a:r>
              <a:rPr lang="en-US" altLang="zh-CN" sz="1050" dirty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P0005</a:t>
            </a:r>
            <a:endParaRPr lang="en-US" sz="1050" dirty="0">
              <a:solidFill>
                <a:srgbClr val="8A97A5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050" b="0" i="0" dirty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项目名称：</a:t>
            </a:r>
            <a:r>
              <a:rPr sz="1050" b="0" i="0" dirty="0" err="1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鹭见</a:t>
            </a:r>
            <a:r>
              <a:rPr sz="1050" b="0" i="0" dirty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050" b="0" i="0" dirty="0" err="1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SiteSigh</a:t>
            </a:r>
            <a:r>
              <a:rPr lang="en-US" altLang="zh-CN" sz="1050" b="0" i="0" dirty="0" err="1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t</a:t>
            </a:r>
            <a:endParaRPr sz="1050" b="0" i="0" dirty="0">
              <a:solidFill>
                <a:srgbClr val="8A97A5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15216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4FBC8010-E31D-4BFF-8499-B013E811FA76}"/>
              </a:ext>
            </a:extLst>
          </p:cNvPr>
          <p:cNvSpPr>
            <a:spLocks noGrp="1"/>
          </p:cNvSpPr>
          <p:nvPr/>
        </p:nvSpPr>
        <p:spPr>
          <a:xfrm>
            <a:off x="571500" y="495300"/>
            <a:ext cx="11049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525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测绘不该是专业机构的专利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B132954-CD7F-4E0A-8B06-E4C33166EFF6}"/>
              </a:ext>
            </a:extLst>
          </p:cNvPr>
          <p:cNvSpPr>
            <a:spLocks noGrp="1"/>
          </p:cNvSpPr>
          <p:nvPr/>
        </p:nvSpPr>
        <p:spPr>
          <a:xfrm>
            <a:off x="571500" y="1428750"/>
            <a:ext cx="5334000" cy="400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传统场地测绘需要数万元的专业无人机与测绘软件，以及专门培训，个人与小微团队难以入门。</a:t>
            </a:r>
          </a:p>
          <a:p>
            <a:endParaRPr sz="1650" b="0" i="0">
              <a:solidFill>
                <a:srgbClr val="46525F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6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我们希望用开源引擎搭配平价无人机，把三维建模与场地分析变成每个人都能上手的工具。</a:t>
            </a:r>
          </a:p>
          <a:p>
            <a:endParaRPr sz="1650" b="0" i="0">
              <a:solidFill>
                <a:srgbClr val="46525F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6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这个想法在黑客松期间从零实现，并用真实航拍数据完成端到端验证。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C140853-FDD0-4AA9-B582-E2599D5BC539}"/>
              </a:ext>
            </a:extLst>
          </p:cNvPr>
          <p:cNvSpPr>
            <a:spLocks noGrp="1"/>
          </p:cNvSpPr>
          <p:nvPr/>
        </p:nvSpPr>
        <p:spPr>
          <a:xfrm>
            <a:off x="6667500" y="1638300"/>
            <a:ext cx="209550" cy="209550"/>
          </a:xfrm>
          <a:prstGeom prst="ellipse">
            <a:avLst/>
          </a:prstGeom>
          <a:solidFill>
            <a:srgbClr val="C96F2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EF392F6-8206-4F0F-B756-E83FC33CC86D}"/>
              </a:ext>
            </a:extLst>
          </p:cNvPr>
          <p:cNvSpPr>
            <a:spLocks noGrp="1"/>
          </p:cNvSpPr>
          <p:nvPr/>
        </p:nvSpPr>
        <p:spPr>
          <a:xfrm>
            <a:off x="7048500" y="1581150"/>
            <a:ext cx="4572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专业测绘无人机贵：旗舰机型约 1.6 万元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2554FD9-790F-45EC-A1B7-6C3A3D43853C}"/>
              </a:ext>
            </a:extLst>
          </p:cNvPr>
          <p:cNvSpPr>
            <a:spLocks noGrp="1"/>
          </p:cNvSpPr>
          <p:nvPr/>
        </p:nvSpPr>
        <p:spPr>
          <a:xfrm>
            <a:off x="6667500" y="2343150"/>
            <a:ext cx="209550" cy="209550"/>
          </a:xfrm>
          <a:prstGeom prst="ellipse">
            <a:avLst/>
          </a:prstGeom>
          <a:solidFill>
            <a:srgbClr val="C96F2A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99D552D-548E-47F1-8E50-B3D2353277CF}"/>
              </a:ext>
            </a:extLst>
          </p:cNvPr>
          <p:cNvSpPr>
            <a:spLocks noGrp="1"/>
          </p:cNvSpPr>
          <p:nvPr/>
        </p:nvSpPr>
        <p:spPr>
          <a:xfrm>
            <a:off x="7048500" y="2286000"/>
            <a:ext cx="4572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测绘软件授权费高：买断制数万元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7604EB7-EA29-479F-8ACD-9D84F55E8FC2}"/>
              </a:ext>
            </a:extLst>
          </p:cNvPr>
          <p:cNvSpPr>
            <a:spLocks noGrp="1"/>
          </p:cNvSpPr>
          <p:nvPr/>
        </p:nvSpPr>
        <p:spPr>
          <a:xfrm>
            <a:off x="6667500" y="3048000"/>
            <a:ext cx="209550" cy="209550"/>
          </a:xfrm>
          <a:prstGeom prst="ellipse">
            <a:avLst/>
          </a:prstGeom>
          <a:solidFill>
            <a:srgbClr val="C96F2A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0605CF2-05CC-4C86-A571-1E497D779447}"/>
              </a:ext>
            </a:extLst>
          </p:cNvPr>
          <p:cNvSpPr>
            <a:spLocks noGrp="1"/>
          </p:cNvSpPr>
          <p:nvPr/>
        </p:nvSpPr>
        <p:spPr>
          <a:xfrm>
            <a:off x="7048500" y="2990850"/>
            <a:ext cx="4572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操作门槛高：需要专业培训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5225AFAA-D398-4001-9C41-97271C04CE77}"/>
              </a:ext>
            </a:extLst>
          </p:cNvPr>
          <p:cNvSpPr>
            <a:spLocks noGrp="1"/>
          </p:cNvSpPr>
          <p:nvPr/>
        </p:nvSpPr>
        <p:spPr>
          <a:xfrm>
            <a:off x="6667500" y="3752850"/>
            <a:ext cx="209550" cy="209550"/>
          </a:xfrm>
          <a:prstGeom prst="ellipse">
            <a:avLst/>
          </a:prstGeom>
          <a:solidFill>
            <a:srgbClr val="C96F2A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C17ACB5-0281-443B-AFF4-FA81E99A21A3}"/>
              </a:ext>
            </a:extLst>
          </p:cNvPr>
          <p:cNvSpPr>
            <a:spLocks noGrp="1"/>
          </p:cNvSpPr>
          <p:nvPr/>
        </p:nvSpPr>
        <p:spPr>
          <a:xfrm>
            <a:off x="7048500" y="3695700"/>
            <a:ext cx="4572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数据与成果分散，难以复用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799AAD2-4D5D-4161-90D2-9E0FA0562120}"/>
              </a:ext>
            </a:extLst>
          </p:cNvPr>
          <p:cNvSpPr>
            <a:spLocks noGrp="1"/>
          </p:cNvSpPr>
          <p:nvPr/>
        </p:nvSpPr>
        <p:spPr>
          <a:xfrm>
            <a:off x="11334750" y="63627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4B3CB0-6F57-47D9-813D-51D4CC1FA732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鹭见 SiteSight · v1.0.0</a:t>
            </a:r>
          </a:p>
        </p:txBody>
      </p:sp>
    </p:spTree>
    <p:extLst>
      <p:ext uri="{BB962C8B-B14F-4D97-AF65-F5344CB8AC3E}">
        <p14:creationId xmlns:p14="http://schemas.microsoft.com/office/powerpoint/2010/main" val="595626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79E3C4D6-5324-4CD8-BC50-221EE7EEA9D5}"/>
              </a:ext>
            </a:extLst>
          </p:cNvPr>
          <p:cNvSpPr>
            <a:spLocks noGrp="1"/>
          </p:cNvSpPr>
          <p:nvPr/>
        </p:nvSpPr>
        <p:spPr>
          <a:xfrm>
            <a:off x="571500" y="495300"/>
            <a:ext cx="11049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525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从照片到成果，一条龙全自动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89B3D84-3849-4805-A40B-2AE10F8B806E}"/>
              </a:ext>
            </a:extLst>
          </p:cNvPr>
          <p:cNvSpPr>
            <a:spLocks noGrp="1"/>
          </p:cNvSpPr>
          <p:nvPr/>
        </p:nvSpPr>
        <p:spPr>
          <a:xfrm>
            <a:off x="571500" y="1428750"/>
            <a:ext cx="533400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鹭见 SiteSight 把航测建模的全流程放进一个免费桌面软件：导入照片、后台重建、AI 解读、成果导出，全部在本地完成，数据不出电脑。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0E8DDDC-7840-4EA5-A6BC-A63EE1569A4D}"/>
              </a:ext>
            </a:extLst>
          </p:cNvPr>
          <p:cNvSpPr>
            <a:spLocks noGrp="1"/>
          </p:cNvSpPr>
          <p:nvPr/>
        </p:nvSpPr>
        <p:spPr>
          <a:xfrm>
            <a:off x="6667500" y="1638300"/>
            <a:ext cx="209550" cy="209550"/>
          </a:xfrm>
          <a:prstGeom prst="ellipse">
            <a:avLst/>
          </a:prstGeom>
          <a:solidFill>
            <a:srgbClr val="C96F2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6F04878-60BA-4E4E-9EEF-EDFFE1D79CB1}"/>
              </a:ext>
            </a:extLst>
          </p:cNvPr>
          <p:cNvSpPr>
            <a:spLocks noGrp="1"/>
          </p:cNvSpPr>
          <p:nvPr/>
        </p:nvSpPr>
        <p:spPr>
          <a:xfrm>
            <a:off x="7048500" y="1581150"/>
            <a:ext cx="4572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一键三维建模：空三、点云、网格、纹理全自动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EE2BA24-977C-48CD-9900-BE76CC948911}"/>
              </a:ext>
            </a:extLst>
          </p:cNvPr>
          <p:cNvSpPr>
            <a:spLocks noGrp="1"/>
          </p:cNvSpPr>
          <p:nvPr/>
        </p:nvSpPr>
        <p:spPr>
          <a:xfrm>
            <a:off x="6667500" y="2343150"/>
            <a:ext cx="209550" cy="209550"/>
          </a:xfrm>
          <a:prstGeom prst="ellipse">
            <a:avLst/>
          </a:prstGeom>
          <a:solidFill>
            <a:srgbClr val="C96F2A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4AFD15-F1D9-457A-A33B-B3ED5673EC92}"/>
              </a:ext>
            </a:extLst>
          </p:cNvPr>
          <p:cNvSpPr>
            <a:spLocks noGrp="1"/>
          </p:cNvSpPr>
          <p:nvPr/>
        </p:nvSpPr>
        <p:spPr>
          <a:xfrm>
            <a:off x="7048500" y="2286000"/>
            <a:ext cx="4572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AI 场地分析：坡度、高差、面积自动解读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7C5AB94-33CE-45AB-9D2D-C0A2ECE692E1}"/>
              </a:ext>
            </a:extLst>
          </p:cNvPr>
          <p:cNvSpPr>
            <a:spLocks noGrp="1"/>
          </p:cNvSpPr>
          <p:nvPr/>
        </p:nvSpPr>
        <p:spPr>
          <a:xfrm>
            <a:off x="6667500" y="3048000"/>
            <a:ext cx="209550" cy="209550"/>
          </a:xfrm>
          <a:prstGeom prst="ellipse">
            <a:avLst/>
          </a:prstGeom>
          <a:solidFill>
            <a:srgbClr val="C96F2A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A76FE65-2ACF-457D-B8F0-4ADD046CF7B6}"/>
              </a:ext>
            </a:extLst>
          </p:cNvPr>
          <p:cNvSpPr>
            <a:spLocks noGrp="1"/>
          </p:cNvSpPr>
          <p:nvPr/>
        </p:nvSpPr>
        <p:spPr>
          <a:xfrm>
            <a:off x="7048500" y="2990850"/>
            <a:ext cx="4572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记忆型报告：记住偏好，越用越懂你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1204EE75-5F8C-4797-B408-96C2FFD64E59}"/>
              </a:ext>
            </a:extLst>
          </p:cNvPr>
          <p:cNvSpPr>
            <a:spLocks noGrp="1"/>
          </p:cNvSpPr>
          <p:nvPr/>
        </p:nvSpPr>
        <p:spPr>
          <a:xfrm>
            <a:off x="6667500" y="3752850"/>
            <a:ext cx="209550" cy="209550"/>
          </a:xfrm>
          <a:prstGeom prst="ellipse">
            <a:avLst/>
          </a:prstGeom>
          <a:solidFill>
            <a:srgbClr val="C96F2A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D46350E-E40C-4661-A778-7184BB74A55E}"/>
              </a:ext>
            </a:extLst>
          </p:cNvPr>
          <p:cNvSpPr>
            <a:spLocks noGrp="1"/>
          </p:cNvSpPr>
          <p:nvPr/>
        </p:nvSpPr>
        <p:spPr>
          <a:xfrm>
            <a:off x="7048500" y="3695700"/>
            <a:ext cx="4572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成果管理：OBJ / STL / PLY / LAZ / 正射 / DSM / PDF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104B780-E05F-4AE3-929D-0B9209FE9B0E}"/>
              </a:ext>
            </a:extLst>
          </p:cNvPr>
          <p:cNvSpPr>
            <a:spLocks noGrp="1"/>
          </p:cNvSpPr>
          <p:nvPr/>
        </p:nvSpPr>
        <p:spPr>
          <a:xfrm>
            <a:off x="11334750" y="63627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DA410D9-C318-4EDC-BB44-85F15D439D20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鹭见 SiteSight · v1.0.0</a:t>
            </a:r>
          </a:p>
        </p:txBody>
      </p:sp>
    </p:spTree>
    <p:extLst>
      <p:ext uri="{BB962C8B-B14F-4D97-AF65-F5344CB8AC3E}">
        <p14:creationId xmlns:p14="http://schemas.microsoft.com/office/powerpoint/2010/main" val="1069929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1A628918-CFBE-4572-989B-2AF365CE4889}"/>
              </a:ext>
            </a:extLst>
          </p:cNvPr>
          <p:cNvSpPr>
            <a:spLocks noGrp="1"/>
          </p:cNvSpPr>
          <p:nvPr/>
        </p:nvSpPr>
        <p:spPr>
          <a:xfrm>
            <a:off x="571500" y="495300"/>
            <a:ext cx="11049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525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同样的成果，成本相差一个数量级</a:t>
            </a:r>
          </a:p>
        </p:txBody>
      </p:sp>
      <p:graphicFrame>
        <p:nvGraphicFramePr>
          <p:cNvPr id="6" name="表格 5"/>
          <p:cNvGraphicFramePr/>
          <p:nvPr/>
        </p:nvGraphicFramePr>
        <p:xfrm>
          <a:off x="571500" y="1524000"/>
          <a:ext cx="11049000" cy="3619500"/>
        </p:xfrm>
        <a:graphic>
          <a:graphicData uri="http://schemas.openxmlformats.org/drawingml/2006/table">
            <a:tbl>
              <a:tblPr/>
              <a:tblGrid>
                <a:gridCol w="220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3900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对比项</a:t>
                      </a:r>
                    </a:p>
                  </a:txBody>
                  <a:tcPr anchor="ctr"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传统专业测绘</a:t>
                      </a:r>
                    </a:p>
                  </a:txBody>
                  <a:tcPr anchor="ctr">
                    <a:solidFill>
                      <a:srgbClr val="1C273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鹭见 SiteSight</a:t>
                      </a:r>
                    </a:p>
                  </a:txBody>
                  <a:tcPr anchor="ctr">
                    <a:solidFill>
                      <a:srgbClr val="1C27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C273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无人机硬件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46525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DJI Mavic 4 Pro 三摄旗舰</a:t>
                      </a:r>
                    </a:p>
                    <a:p>
                      <a:pPr algn="l"/>
                      <a:r>
                        <a:rPr sz="1500">
                          <a:solidFill>
                            <a:srgbClr val="46525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16,000 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C96F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DJI NEO 系列入门机</a:t>
                      </a:r>
                    </a:p>
                    <a:p>
                      <a:pPr algn="l"/>
                      <a:r>
                        <a:rPr sz="1500" b="1">
                          <a:solidFill>
                            <a:srgbClr val="C96F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1,000 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C273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测绘软件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46525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大疆智图等买断授权</a:t>
                      </a:r>
                    </a:p>
                    <a:p>
                      <a:pPr algn="l"/>
                      <a:r>
                        <a:rPr sz="1500">
                          <a:solidFill>
                            <a:srgbClr val="46525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数万元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C96F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本软件免费开源</a:t>
                      </a:r>
                    </a:p>
                    <a:p>
                      <a:pPr algn="l"/>
                      <a:r>
                        <a:rPr sz="1500" b="1">
                          <a:solidFill>
                            <a:srgbClr val="C96F2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C273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合计投入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46525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2 万元以上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46525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1,000 元起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C273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操作门槛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46525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需要专业培训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46525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拖入照片，一键完成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矩形 2">
            <a:extLst>
              <a:ext uri="{FF2B5EF4-FFF2-40B4-BE49-F238E27FC236}">
                <a16:creationId xmlns:a16="http://schemas.microsoft.com/office/drawing/2014/main" id="{B70B1EBB-B279-45B5-8354-C2CE9A0F7EAC}"/>
              </a:ext>
            </a:extLst>
          </p:cNvPr>
          <p:cNvSpPr>
            <a:spLocks noGrp="1"/>
          </p:cNvSpPr>
          <p:nvPr/>
        </p:nvSpPr>
        <p:spPr>
          <a:xfrm>
            <a:off x="11334750" y="63627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EB5E6B-99E9-4864-B4F7-7028768D7B8B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鹭见 SiteSight · v1.0.0</a:t>
            </a:r>
          </a:p>
        </p:txBody>
      </p:sp>
    </p:spTree>
    <p:extLst>
      <p:ext uri="{BB962C8B-B14F-4D97-AF65-F5344CB8AC3E}">
        <p14:creationId xmlns:p14="http://schemas.microsoft.com/office/powerpoint/2010/main" val="793080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811E43AA-FCA4-4867-9AE7-6AFAF4580D8F}"/>
              </a:ext>
            </a:extLst>
          </p:cNvPr>
          <p:cNvSpPr>
            <a:spLocks noGrp="1"/>
          </p:cNvSpPr>
          <p:nvPr/>
        </p:nvSpPr>
        <p:spPr>
          <a:xfrm>
            <a:off x="571500" y="495300"/>
            <a:ext cx="11049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525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三步完成一次场地建模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E67E651E-A8E4-466B-A433-422881A49268}"/>
              </a:ext>
            </a:extLst>
          </p:cNvPr>
          <p:cNvSpPr>
            <a:spLocks noGrp="1"/>
          </p:cNvSpPr>
          <p:nvPr/>
        </p:nvSpPr>
        <p:spPr>
          <a:xfrm>
            <a:off x="571500" y="1619250"/>
            <a:ext cx="3429000" cy="3619500"/>
          </a:xfrm>
          <a:prstGeom prst="roundRect">
            <a:avLst>
              <a:gd name="adj" fmla="val 6667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8C7FFB-946F-4E4F-9E4E-7351D7836038}"/>
              </a:ext>
            </a:extLst>
          </p:cNvPr>
          <p:cNvSpPr>
            <a:spLocks noGrp="1"/>
          </p:cNvSpPr>
          <p:nvPr/>
        </p:nvSpPr>
        <p:spPr>
          <a:xfrm>
            <a:off x="876300" y="1905000"/>
            <a:ext cx="1143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90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A76B0FF-C336-447B-8B95-742EF4311A20}"/>
              </a:ext>
            </a:extLst>
          </p:cNvPr>
          <p:cNvSpPr>
            <a:spLocks noGrp="1"/>
          </p:cNvSpPr>
          <p:nvPr/>
        </p:nvSpPr>
        <p:spPr>
          <a:xfrm>
            <a:off x="876300" y="2857500"/>
            <a:ext cx="285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准备照片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0B77CF-9A17-4FB2-83A5-505ED841AFBD}"/>
              </a:ext>
            </a:extLst>
          </p:cNvPr>
          <p:cNvSpPr>
            <a:spLocks noGrp="1"/>
          </p:cNvSpPr>
          <p:nvPr/>
        </p:nvSpPr>
        <p:spPr>
          <a:xfrm>
            <a:off x="876300" y="3409950"/>
            <a:ext cx="2857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无人机环绕拍摄，照片集中存放；也可直接下载测试素材。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91DB62B-F8E1-449D-95D6-E2ACE84FE387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3429000" cy="3619500"/>
          </a:xfrm>
          <a:prstGeom prst="roundRect">
            <a:avLst>
              <a:gd name="adj" fmla="val 6667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B50DD65-BD40-4674-9858-C9E8D4B3ECF0}"/>
              </a:ext>
            </a:extLst>
          </p:cNvPr>
          <p:cNvSpPr>
            <a:spLocks noGrp="1"/>
          </p:cNvSpPr>
          <p:nvPr/>
        </p:nvSpPr>
        <p:spPr>
          <a:xfrm>
            <a:off x="4686300" y="1905000"/>
            <a:ext cx="1143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90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500BBB1-5428-45FA-8976-04243E78B4B2}"/>
              </a:ext>
            </a:extLst>
          </p:cNvPr>
          <p:cNvSpPr>
            <a:spLocks noGrp="1"/>
          </p:cNvSpPr>
          <p:nvPr/>
        </p:nvSpPr>
        <p:spPr>
          <a:xfrm>
            <a:off x="4686300" y="2857500"/>
            <a:ext cx="285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拖入软件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E748C8E-8CCA-4CCB-B8B4-CDA80D0FE808}"/>
              </a:ext>
            </a:extLst>
          </p:cNvPr>
          <p:cNvSpPr>
            <a:spLocks noGrp="1"/>
          </p:cNvSpPr>
          <p:nvPr/>
        </p:nvSpPr>
        <p:spPr>
          <a:xfrm>
            <a:off x="4686300" y="3409950"/>
            <a:ext cx="2857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选择照片文件夹与精度，后台自动完成三维重建。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E59EF082-CAA3-47F9-A01C-F1BAEC56C043}"/>
              </a:ext>
            </a:extLst>
          </p:cNvPr>
          <p:cNvSpPr>
            <a:spLocks noGrp="1"/>
          </p:cNvSpPr>
          <p:nvPr/>
        </p:nvSpPr>
        <p:spPr>
          <a:xfrm>
            <a:off x="8191500" y="1619250"/>
            <a:ext cx="3429000" cy="3619500"/>
          </a:xfrm>
          <a:prstGeom prst="roundRect">
            <a:avLst>
              <a:gd name="adj" fmla="val 6667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DF90CA-0433-45B9-912D-40BEC37547AC}"/>
              </a:ext>
            </a:extLst>
          </p:cNvPr>
          <p:cNvSpPr>
            <a:spLocks noGrp="1"/>
          </p:cNvSpPr>
          <p:nvPr/>
        </p:nvSpPr>
        <p:spPr>
          <a:xfrm>
            <a:off x="8496300" y="1905000"/>
            <a:ext cx="1143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90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15A5D13-E5C4-4D37-B7AF-0581764DD1C2}"/>
              </a:ext>
            </a:extLst>
          </p:cNvPr>
          <p:cNvSpPr>
            <a:spLocks noGrp="1"/>
          </p:cNvSpPr>
          <p:nvPr/>
        </p:nvSpPr>
        <p:spPr>
          <a:xfrm>
            <a:off x="8496300" y="2857500"/>
            <a:ext cx="285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查看成果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32D89FF-8C90-4F60-92E5-0B5D5D849EAA}"/>
              </a:ext>
            </a:extLst>
          </p:cNvPr>
          <p:cNvSpPr>
            <a:spLocks noGrp="1"/>
          </p:cNvSpPr>
          <p:nvPr/>
        </p:nvSpPr>
        <p:spPr>
          <a:xfrm>
            <a:off x="8496300" y="3409950"/>
            <a:ext cx="2857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AI 报告、模型与数据一键导出，随时复看与分享。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65FB52C-ECBD-44DB-AB6F-65255970564B}"/>
              </a:ext>
            </a:extLst>
          </p:cNvPr>
          <p:cNvSpPr>
            <a:spLocks noGrp="1"/>
          </p:cNvSpPr>
          <p:nvPr/>
        </p:nvSpPr>
        <p:spPr>
          <a:xfrm>
            <a:off x="571500" y="5619750"/>
            <a:ext cx="1104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35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rPr>
              <a:t>测试素材：GitHub Releases 提供 60 张航拍照片，下载即可体验完整建模。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6533143-B6ED-4BBC-8198-8E1B33F547E0}"/>
              </a:ext>
            </a:extLst>
          </p:cNvPr>
          <p:cNvSpPr>
            <a:spLocks noGrp="1"/>
          </p:cNvSpPr>
          <p:nvPr/>
        </p:nvSpPr>
        <p:spPr>
          <a:xfrm>
            <a:off x="11334750" y="63627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AF33DF7-2047-458C-AF10-3586C4CB4704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鹭见 SiteSight · v1.0.0</a:t>
            </a:r>
          </a:p>
        </p:txBody>
      </p:sp>
    </p:spTree>
    <p:extLst>
      <p:ext uri="{BB962C8B-B14F-4D97-AF65-F5344CB8AC3E}">
        <p14:creationId xmlns:p14="http://schemas.microsoft.com/office/powerpoint/2010/main" val="43192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B8CF605B-5D91-4E6C-BDCE-477B67BECD8F}"/>
              </a:ext>
            </a:extLst>
          </p:cNvPr>
          <p:cNvSpPr>
            <a:spLocks noGrp="1"/>
          </p:cNvSpPr>
          <p:nvPr/>
        </p:nvSpPr>
        <p:spPr>
          <a:xfrm>
            <a:off x="571500" y="495300"/>
            <a:ext cx="11049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525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C2735"/>
                </a:solidFill>
                <a:latin typeface="Microsoft YaHei"/>
                <a:ea typeface="Microsoft YaHei"/>
                <a:cs typeface="Microsoft YaHei"/>
              </a:rPr>
              <a:t>免费开源，欢迎体验与共建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D56B513-9E37-4821-BF68-027575D89B41}"/>
              </a:ext>
            </a:extLst>
          </p:cNvPr>
          <p:cNvSpPr>
            <a:spLocks noGrp="1"/>
          </p:cNvSpPr>
          <p:nvPr/>
        </p:nvSpPr>
        <p:spPr>
          <a:xfrm>
            <a:off x="571500" y="1524000"/>
            <a:ext cx="5143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10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rPr>
              <a:t>技术底座（全部开源）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D6C57A3-225F-4CA9-9B2D-A0E7728C6FF6}"/>
              </a:ext>
            </a:extLst>
          </p:cNvPr>
          <p:cNvSpPr>
            <a:spLocks noGrp="1"/>
          </p:cNvSpPr>
          <p:nvPr/>
        </p:nvSpPr>
        <p:spPr>
          <a:xfrm>
            <a:off x="571500" y="2133600"/>
            <a:ext cx="5143500" cy="304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OpenDroneMap（AGPL-3.0）三维重建引擎</a:t>
            </a:r>
          </a:p>
          <a:p>
            <a:pPr algn="l">
              <a:def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OpenSfM / OpenMVS / PDAL / GDAL 等</a:t>
            </a:r>
          </a:p>
          <a:p>
            <a:pPr algn="l">
              <a:def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Python · pywebview · PyInstaller · Pillow</a:t>
            </a:r>
          </a:p>
          <a:p>
            <a:endParaRPr sz="1575" b="0" i="0">
              <a:solidFill>
                <a:srgbClr val="46525F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本地运行，数据不出电脑，隐私安全。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C2D7BA-B4D0-480D-9D28-830984E8B754}"/>
              </a:ext>
            </a:extLst>
          </p:cNvPr>
          <p:cNvSpPr>
            <a:spLocks noGrp="1"/>
          </p:cNvSpPr>
          <p:nvPr/>
        </p:nvSpPr>
        <p:spPr>
          <a:xfrm>
            <a:off x="6286500" y="1524000"/>
            <a:ext cx="5143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10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C96F2A"/>
                </a:solidFill>
                <a:latin typeface="Microsoft YaHei"/>
                <a:ea typeface="Microsoft YaHei"/>
                <a:cs typeface="Microsoft YaHei"/>
              </a:rPr>
              <a:t>获取与支持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34A52AE-723A-459E-BFDF-4F0DCAF82378}"/>
              </a:ext>
            </a:extLst>
          </p:cNvPr>
          <p:cNvSpPr>
            <a:spLocks noGrp="1"/>
          </p:cNvSpPr>
          <p:nvPr/>
        </p:nvSpPr>
        <p:spPr>
          <a:xfrm>
            <a:off x="6286500" y="2133600"/>
            <a:ext cx="514350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GitHub：github.com/MuoNian/SiteSight</a:t>
            </a:r>
          </a:p>
          <a:p>
            <a:pPr algn="l">
              <a:def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测试素材：Releases 免费下载</a:t>
            </a:r>
          </a:p>
          <a:p>
            <a:pPr algn="l">
              <a:def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安装包：约 1 GB，含完整建模引擎</a:t>
            </a:r>
          </a:p>
          <a:p>
            <a:endParaRPr sz="1575" b="0" i="0">
              <a:solidFill>
                <a:srgbClr val="46525F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46525F"/>
                </a:solidFill>
                <a:latin typeface="Microsoft YaHei"/>
                <a:ea typeface="Microsoft YaHei"/>
                <a:cs typeface="Microsoft YaHei"/>
              </a:rPr>
              <a:t>感谢黑客松组委会与评委的支持。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5089E27-8BAC-4330-A889-503DBC5C6505}"/>
              </a:ext>
            </a:extLst>
          </p:cNvPr>
          <p:cNvSpPr>
            <a:spLocks noGrp="1"/>
          </p:cNvSpPr>
          <p:nvPr/>
        </p:nvSpPr>
        <p:spPr>
          <a:xfrm>
            <a:off x="11334750" y="63627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B228733-DD05-484C-A68C-779C69A1E8CD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8A97A5"/>
                </a:solidFill>
                <a:latin typeface="Microsoft YaHei"/>
                <a:ea typeface="Microsoft YaHei"/>
                <a:cs typeface="Microsoft YaHei"/>
              </a:rPr>
              <a:t>鹭见 SiteSight · v1.0.0</a:t>
            </a:r>
          </a:p>
        </p:txBody>
      </p:sp>
    </p:spTree>
    <p:extLst>
      <p:ext uri="{BB962C8B-B14F-4D97-AF65-F5344CB8AC3E}">
        <p14:creationId xmlns:p14="http://schemas.microsoft.com/office/powerpoint/2010/main" val="153702500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283</Words>
  <Application>Microsoft Office PowerPoint</Application>
  <DocSecurity>0</DocSecurity>
  <PresentationFormat>宽屏</PresentationFormat>
  <Paragraphs>80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9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shouting gu</cp:lastModifiedBy>
  <cp:revision>1</cp:revision>
  <dcterms:created xsi:type="dcterms:W3CDTF">2026-08-31T03:13:13Z</dcterms:created>
  <dcterms:modified xsi:type="dcterms:W3CDTF">2026-08-31T03:55:12Z</dcterms:modified>
</cp:coreProperties>
</file>